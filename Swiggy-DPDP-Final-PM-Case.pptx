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regulatory countdown. This is a product-architecture problem, not a legal checkbox. Bundled consent is a ticking time bomb for both trust and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Picture Priya tapping Accept All at 1:15 PM with a meeting in 5 minutes. Zero patience. Any friction = drop-off; any deception = trust erosion.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at the bundled wall — that's where we lose users and break the law. Background location starts before any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SARAL re-architects how Swiggy treats user autonomy. Ledger = insurance. JIT = conversion strategy. Children's gateway = legal shield.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VCCR is the only metric combining legal safety with engagement. High VCCR but onboarding drops → tighten JIT timing. Low VCCR but onboarding fine → compliance leak.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hypothesis tree prevents panic; the analysis plan is a forensic checklist. Key: is it a UX bug, a backend leak, or a market shift?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dashboard is the war room. Segmentation isolates patient-zero. Under-18 is the biggest blind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 is make-or-break. We test HOW to make compliance delightful, never WHETHER compliance is needed. The non-testable list is our red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we prove we're not naive. Conversion will hurt, engineering is hard, legacy is a mess — trade-offs are worth it because the alternative is regulatory shutdown of data 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energy. The ask is specific: people, money, a date. Privacy is not a cost center — it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670A"/>
                </a:solidFill>
                <a:latin typeface="Calibri"/>
              </a:rPr>
              <a:t>SWIGGY · DPDP ACT 2023 · PRODUCT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8181B"/>
                </a:solidFill>
                <a:latin typeface="Calibri"/>
              </a:rPr>
              <a:t>Swiggy asks for all your data with one tap. DPDP says that consent is invalid.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25B"/>
                </a:solidFill>
                <a:latin typeface="Calibri"/>
              </a:rPr>
              <a:t>Focus: the onboarding consent experience — the first legal touchpoint where personal-data collection is authorized.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956816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217627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4572E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50592"/>
            <a:ext cx="6400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181B"/>
                </a:solidFill>
                <a:latin typeface="Calibri"/>
              </a:rPr>
              <a:t>Swiggy's onboarding bundles essential delivery data (phone, address) with optional behavioural data (location, marketing, analytics) behind a single 'Accept All'. DPDP Act, Section 6 requires consent that is free, specific, informed, unconditional and affirmative — bundling is none of these.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8503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A672"/>
                </a:solidFill>
                <a:latin typeface="Calibri"/>
              </a:rPr>
              <a:t>THE SOLUTION — SWIGGY SARAL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959352"/>
            <a:ext cx="6400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18181B"/>
                </a:solidFill>
                <a:latin typeface="Calibri"/>
              </a:rPr>
              <a:t>Swiggy SARAL: unbundled consent buckets, just-in-time micro-notices, a multilingual plain-language layer, an immutable Consent Ledger, and a children's-data gateway.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672584"/>
            <a:ext cx="3017520" cy="32918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727448"/>
            <a:ext cx="45720" cy="219456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700016"/>
            <a:ext cx="2798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181B"/>
                </a:solidFill>
                <a:latin typeface="Calibri"/>
              </a:rPr>
              <a:t>1 Unbundled buckets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4672584"/>
            <a:ext cx="3017520" cy="32918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03320" y="4727448"/>
            <a:ext cx="45720" cy="219456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9624" y="4700016"/>
            <a:ext cx="2798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181B"/>
                </a:solidFill>
                <a:latin typeface="Calibri"/>
              </a:rPr>
              <a:t>2 Just-in-time notices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74920"/>
            <a:ext cx="3017520" cy="32918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5129784"/>
            <a:ext cx="45720" cy="219456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5102352"/>
            <a:ext cx="2798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181B"/>
                </a:solidFill>
                <a:latin typeface="Calibri"/>
              </a:rPr>
              <a:t>3 Multilingual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03320" y="5074920"/>
            <a:ext cx="3017520" cy="32918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03320" y="5129784"/>
            <a:ext cx="45720" cy="219456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9624" y="5102352"/>
            <a:ext cx="279806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181B"/>
                </a:solidFill>
                <a:latin typeface="Calibri"/>
              </a:rPr>
              <a:t>4 Consent Ledger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477256"/>
            <a:ext cx="6400800" cy="329184"/>
          </a:xfrm>
          <a:prstGeom prst="roundRect">
            <a:avLst>
              <a:gd name="adj" fmla="val 12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532120"/>
            <a:ext cx="45720" cy="219456"/>
          </a:xfrm>
          <a:prstGeom prst="rect">
            <a:avLst/>
          </a:prstGeom>
          <a:solidFill>
            <a:srgbClr val="1BA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5504688"/>
            <a:ext cx="61813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181B"/>
                </a:solidFill>
                <a:latin typeface="Calibri"/>
              </a:rPr>
              <a:t>5 Kids gateway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06440"/>
            <a:ext cx="6400800" cy="566928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 w="15240">
            <a:solidFill>
              <a:srgbClr val="FC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888736"/>
            <a:ext cx="6035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DECISION ASK   </a:t>
            </a:r>
            <a:r>
              <a:rPr sz="1100" b="0" i="0">
                <a:solidFill>
                  <a:srgbClr val="18181B"/>
                </a:solidFill>
                <a:latin typeface="Calibri"/>
              </a:rPr>
              <a:t>Approve resourcing + Phase-1 A/B launch to make consent valid without breaking onboarding.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2176272"/>
            <a:ext cx="43735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EVIDENCE LEDGER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2496312"/>
            <a:ext cx="4373575" cy="84124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0" y="2606040"/>
            <a:ext cx="54864" cy="621792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16368" y="2615184"/>
            <a:ext cx="4007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8181B"/>
                </a:solidFill>
                <a:latin typeface="Calibri"/>
              </a:rPr>
              <a:t>~24M+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999232"/>
            <a:ext cx="4007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Monthly active users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3465576"/>
            <a:ext cx="4373575" cy="84124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0" y="3575304"/>
            <a:ext cx="54864" cy="621792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8" y="3584448"/>
            <a:ext cx="4007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8181B"/>
                </a:solidFill>
                <a:latin typeface="Calibri"/>
              </a:rPr>
              <a:t>₹250 cr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16368" y="3968496"/>
            <a:ext cx="4007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Max DPDP penalty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434840"/>
            <a:ext cx="4373575" cy="84124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315200" y="4544568"/>
            <a:ext cx="54864" cy="621792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16368" y="4553712"/>
            <a:ext cx="4007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8181B"/>
                </a:solidFill>
                <a:latin typeface="Calibri"/>
              </a:rPr>
              <a:t>~68% of digital natives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6368" y="4937760"/>
            <a:ext cx="4007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Value data transparency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5404104"/>
            <a:ext cx="4373575" cy="841248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5513832"/>
            <a:ext cx="54864" cy="621792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16368" y="5522976"/>
            <a:ext cx="40078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18181B"/>
                </a:solidFill>
                <a:latin typeface="Calibri"/>
              </a:rPr>
              <a:t>None (S.9 gap)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16368" y="5907024"/>
            <a:ext cx="4007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Children's-data gate today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473952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PM — Data &amp; Privacy · 04 July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31175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Swiggy × DPDP · </a:t>
            </a:r>
            <a:r>
              <a:rPr sz="900" b="1" i="0">
                <a:solidFill>
                  <a:srgbClr val="E0670A"/>
                </a:solidFill>
                <a:latin typeface="Calibri"/>
              </a:rPr>
              <a:t>01 / 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670487" y="6528816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670A"/>
                </a:solidFill>
                <a:latin typeface="Calibri"/>
              </a:rPr>
              <a:t>THE USER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8181B"/>
                </a:solidFill>
                <a:latin typeface="Calibri"/>
              </a:rPr>
              <a:t>Three people, one broken consent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25B"/>
                </a:solidFill>
                <a:latin typeface="Calibri"/>
              </a:rPr>
              <a:t>The person whose data is at stake — and why the current flow fails each of them.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956816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2130552"/>
            <a:ext cx="3545738" cy="25146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30552"/>
            <a:ext cx="3545738" cy="457200"/>
          </a:xfrm>
          <a:prstGeom prst="roundRect">
            <a:avLst>
              <a:gd name="adj" fmla="val 5000"/>
            </a:avLst>
          </a:prstGeom>
          <a:solidFill>
            <a:srgbClr val="E5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450592"/>
            <a:ext cx="3545738" cy="146304"/>
          </a:xfrm>
          <a:prstGeom prst="rect">
            <a:avLst/>
          </a:prstGeom>
          <a:solidFill>
            <a:srgbClr val="E5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221992"/>
            <a:ext cx="32714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8181B"/>
                </a:solidFill>
                <a:latin typeface="Calibri"/>
              </a:rPr>
              <a:t>Priya, 28 · Bangalore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42616"/>
            <a:ext cx="32714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563EB"/>
                </a:solidFill>
                <a:latin typeface="Calibri"/>
              </a:rPr>
              <a:t>Privacy-conscious urban diner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2935224"/>
            <a:ext cx="32348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Calibri"/>
              </a:rPr>
              <a:t>Context: </a:t>
            </a:r>
            <a:r>
              <a:rPr sz="900" b="0" i="0">
                <a:solidFill>
                  <a:srgbClr val="52525B"/>
                </a:solidFill>
                <a:latin typeface="Calibri"/>
              </a:rPr>
              <a:t>Lunch 3×/week; Instamart on weekends.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118104"/>
            <a:ext cx="32348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Calibri"/>
              </a:rPr>
              <a:t>Mental model: </a:t>
            </a:r>
            <a:r>
              <a:rPr sz="900" b="0" i="0">
                <a:solidFill>
                  <a:srgbClr val="52525B"/>
                </a:solidFill>
                <a:latin typeface="Calibri"/>
              </a:rPr>
              <a:t>Gets that Swiggy needs address + phone. Doesn't get why it tracks location when closed, or sends Dineout emails after biryani.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566160"/>
            <a:ext cx="32348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563EB"/>
                </a:solidFill>
                <a:latin typeface="Calibri"/>
              </a:rPr>
              <a:t>Attitude: </a:t>
            </a:r>
            <a:r>
              <a:rPr sz="900" b="0" i="0">
                <a:solidFill>
                  <a:srgbClr val="52525B"/>
                </a:solidFill>
                <a:latin typeface="Calibri"/>
              </a:rPr>
              <a:t>Shares for clear value; hates dark patterns.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352544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4572E"/>
                </a:solidFill>
                <a:latin typeface="Calibri"/>
              </a:rPr>
              <a:t>If we fail: </a:t>
            </a:r>
            <a:r>
              <a:rPr sz="900" b="1" i="0">
                <a:solidFill>
                  <a:srgbClr val="18181B"/>
                </a:solidFill>
                <a:latin typeface="Calibri"/>
              </a:rPr>
              <a:t>Churns to Zomato.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2978" y="2130552"/>
            <a:ext cx="3545738" cy="25146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22978" y="2130552"/>
            <a:ext cx="3545738" cy="457200"/>
          </a:xfrm>
          <a:prstGeom prst="roundRect">
            <a:avLst>
              <a:gd name="adj" fmla="val 5000"/>
            </a:avLst>
          </a:prstGeom>
          <a:solidFill>
            <a:srgbClr val="FC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2978" y="2450592"/>
            <a:ext cx="3545738" cy="146304"/>
          </a:xfrm>
          <a:prstGeom prst="rect">
            <a:avLst/>
          </a:prstGeom>
          <a:solidFill>
            <a:srgbClr val="FC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7570" y="2221992"/>
            <a:ext cx="32714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8181B"/>
                </a:solidFill>
                <a:latin typeface="Calibri"/>
              </a:rPr>
              <a:t>Ramesh, 42 · Tier-2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7570" y="2642616"/>
            <a:ext cx="32714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FC8019"/>
                </a:solidFill>
                <a:latin typeface="Calibri"/>
              </a:rPr>
              <a:t>Low-literacy, trust-first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7570" y="2935224"/>
            <a:ext cx="32348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C8019"/>
                </a:solidFill>
                <a:latin typeface="Calibri"/>
              </a:rPr>
              <a:t>Context: </a:t>
            </a:r>
            <a:r>
              <a:rPr sz="900" b="0" i="0">
                <a:solidFill>
                  <a:srgbClr val="52525B"/>
                </a:solidFill>
                <a:latin typeface="Calibri"/>
              </a:rPr>
              <a:t>First smartphone; weekend family dinners; speaks Kannada.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7570" y="3250691"/>
            <a:ext cx="32348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C8019"/>
                </a:solidFill>
                <a:latin typeface="Calibri"/>
              </a:rPr>
              <a:t>Mental model: </a:t>
            </a:r>
            <a:r>
              <a:rPr sz="900" b="0" i="0">
                <a:solidFill>
                  <a:srgbClr val="52525B"/>
                </a:solidFill>
                <a:latin typeface="Calibri"/>
              </a:rPr>
              <a:t>Doesn't read policies; taps 'OK' to reach food faster.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7570" y="3566159"/>
            <a:ext cx="32348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C8019"/>
                </a:solidFill>
                <a:latin typeface="Calibri"/>
              </a:rPr>
              <a:t>Attitude: </a:t>
            </a:r>
            <a:r>
              <a:rPr sz="900" b="0" i="0">
                <a:solidFill>
                  <a:srgbClr val="52525B"/>
                </a:solidFill>
                <a:latin typeface="Calibri"/>
              </a:rPr>
              <a:t>Trusts by default; needs protecting from rapid-tap habit.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7570" y="4352544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4572E"/>
                </a:solidFill>
                <a:latin typeface="Calibri"/>
              </a:rPr>
              <a:t>If we fail: </a:t>
            </a:r>
            <a:r>
              <a:rPr sz="900" b="1" i="0">
                <a:solidFill>
                  <a:srgbClr val="18181B"/>
                </a:solidFill>
                <a:latin typeface="Calibri"/>
              </a:rPr>
              <a:t>Silent churn.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3036" y="2130552"/>
            <a:ext cx="3545738" cy="25146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43036" y="2130552"/>
            <a:ext cx="3545738" cy="457200"/>
          </a:xfrm>
          <a:prstGeom prst="roundRect">
            <a:avLst>
              <a:gd name="adj" fmla="val 5000"/>
            </a:avLst>
          </a:prstGeom>
          <a:solidFill>
            <a:srgbClr val="FC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43036" y="2450592"/>
            <a:ext cx="3545738" cy="146304"/>
          </a:xfrm>
          <a:prstGeom prst="rect">
            <a:avLst/>
          </a:prstGeom>
          <a:solidFill>
            <a:srgbClr val="FCE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7628" y="2221992"/>
            <a:ext cx="327141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8181B"/>
                </a:solidFill>
                <a:latin typeface="Calibri"/>
              </a:rPr>
              <a:t>Ananya, 16 · Student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7628" y="2642616"/>
            <a:ext cx="32714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4572E"/>
                </a:solidFill>
                <a:latin typeface="Calibri"/>
              </a:rPr>
              <a:t>Digital-native minor (child user)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7628" y="2935224"/>
            <a:ext cx="32348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4572E"/>
                </a:solidFill>
                <a:latin typeface="Calibri"/>
              </a:rPr>
              <a:t>Context: </a:t>
            </a:r>
            <a:r>
              <a:rPr sz="900" b="0" i="0">
                <a:solidFill>
                  <a:srgbClr val="52525B"/>
                </a:solidFill>
                <a:latin typeface="Calibri"/>
              </a:rPr>
              <a:t>Snacks after tuition; parent pays via UPI.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7628" y="3250691"/>
            <a:ext cx="32348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4572E"/>
                </a:solidFill>
                <a:latin typeface="Calibri"/>
              </a:rPr>
              <a:t>Mental model: </a:t>
            </a:r>
            <a:r>
              <a:rPr sz="900" b="0" i="0">
                <a:solidFill>
                  <a:srgbClr val="52525B"/>
                </a:solidFill>
                <a:latin typeface="Calibri"/>
              </a:rPr>
              <a:t>Unaware her location + browsing is collected; guardian has no visibility.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7628" y="3566159"/>
            <a:ext cx="32348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4572E"/>
                </a:solidFill>
                <a:latin typeface="Calibri"/>
              </a:rPr>
              <a:t>Attitude: </a:t>
            </a:r>
            <a:r>
              <a:rPr sz="900" b="0" i="0">
                <a:solidFill>
                  <a:srgbClr val="52525B"/>
                </a:solidFill>
                <a:latin typeface="Calibri"/>
              </a:rPr>
              <a:t>N/A — duty of protection is on the platform (S.9).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7628" y="4352544"/>
            <a:ext cx="323484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4572E"/>
                </a:solidFill>
                <a:latin typeface="Calibri"/>
              </a:rPr>
              <a:t>If we fail: </a:t>
            </a:r>
            <a:r>
              <a:rPr sz="900" b="1" i="0">
                <a:solidFill>
                  <a:srgbClr val="18181B"/>
                </a:solidFill>
                <a:latin typeface="Calibri"/>
              </a:rPr>
              <a:t>₹250 cr tier + guardian uninstall.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809744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PAIN POINTS TODAY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102352"/>
            <a:ext cx="6035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1050" b="0" i="0">
                <a:solidFill>
                  <a:srgbClr val="18181B"/>
                </a:solidFill>
                <a:latin typeface="Calibri"/>
              </a:rPr>
              <a:t>Consent fatigue — 4,000-word policy → abandon or blind-accept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1050" b="0" i="0">
                <a:solidFill>
                  <a:srgbClr val="18181B"/>
                </a:solidFill>
                <a:latin typeface="Calibri"/>
              </a:rPr>
              <a:t>Dark-pattern anxiety — pre-ticked box, 'agree to continue'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1050" b="0" i="0">
                <a:solidFill>
                  <a:srgbClr val="18181B"/>
                </a:solidFill>
                <a:latin typeface="Calibri"/>
              </a:rPr>
              <a:t>Vernacular gap — English-only excludes 60%+ users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1050" b="0" i="0">
                <a:solidFill>
                  <a:srgbClr val="18181B"/>
                </a:solidFill>
                <a:latin typeface="Calibri"/>
              </a:rPr>
              <a:t>No memory — can't recall or revoke consent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1050" b="0" i="0">
                <a:solidFill>
                  <a:srgbClr val="18181B"/>
                </a:solidFill>
                <a:latin typeface="Calibri"/>
              </a:rPr>
              <a:t>Parental blindspot — no mechanism for minors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12280" y="4828031"/>
            <a:ext cx="4876495" cy="1417320"/>
          </a:xfrm>
          <a:prstGeom prst="roundRect">
            <a:avLst>
              <a:gd name="adj" fmla="val 6000"/>
            </a:avLst>
          </a:prstGeom>
          <a:solidFill>
            <a:srgbClr val="FFF4EA"/>
          </a:solidFill>
          <a:ln w="12700">
            <a:solidFill>
              <a:srgbClr val="FC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95160" y="4956048"/>
            <a:ext cx="4510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WHY IT MATTERS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5248656"/>
            <a:ext cx="45107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8181B"/>
                </a:solidFill>
                <a:latin typeface="Calibri"/>
              </a:rPr>
              <a:t>For Priya, bad consent UX = switch. For Ramesh = silent churn. For Ananya's parent = uninstall + social post.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473952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User · Segmentation · Pain points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31175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Swiggy × DPDP · </a:t>
            </a:r>
            <a:r>
              <a:rPr sz="900" b="1" i="0">
                <a:solidFill>
                  <a:srgbClr val="E0670A"/>
                </a:solidFill>
                <a:latin typeface="Calibri"/>
              </a:rPr>
              <a:t>02 / 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670487" y="6528816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670A"/>
                </a:solidFill>
                <a:latin typeface="Calibri"/>
              </a:rPr>
              <a:t>CURRENT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8181B"/>
                </a:solidFill>
                <a:latin typeface="Calibri"/>
              </a:rPr>
              <a:t>The 'wall of text' onboarding breaks the law before the first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25B"/>
                </a:solidFill>
                <a:latin typeface="Calibri"/>
              </a:rPr>
              <a:t>How Swiggy collects data today (stated assumptions) and where it fails DPDP.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956816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use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18" y="2130552"/>
            <a:ext cx="2284683" cy="3721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3440" y="2130552"/>
            <a:ext cx="7025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WHERE IT FAILS DPDP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663440" y="2414016"/>
          <a:ext cx="7025333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3388"/>
                <a:gridCol w="3685421"/>
                <a:gridCol w="1036524"/>
              </a:tblGrid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DPDP principle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Current state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Sev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Free &amp; unconditional (S.6)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Can't proceed without accepting all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E4572E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Specific &amp; informed (S.6)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One statement covers 12+ activities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E4572E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Children's data (S.9)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No age gate, no parental flow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E4572E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Affirmative action (S.6)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Pre-ticked marketing box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E0670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Purpose limitation (S.5)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OTP phone reused for marketing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E0670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Right to withdraw (S.7)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Email-only, no in-app control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E0670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Data minimisation (S.4)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24/7 background location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B45309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7332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FRICTION &amp; RISK POINTS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989320"/>
            <a:ext cx="2659303" cy="51206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6053328"/>
            <a:ext cx="247642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181B"/>
                </a:solidFill>
                <a:latin typeface="Calibri"/>
              </a:rPr>
              <a:t>Legal: DPB show-cause on enforcement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5103" y="5989320"/>
            <a:ext cx="2659303" cy="51206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4831" y="6053328"/>
            <a:ext cx="247642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181B"/>
                </a:solidFill>
                <a:latin typeface="Calibri"/>
              </a:rPr>
              <a:t>Conversion: ~18% drop at Terms wall (Tier-2/3)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5989320"/>
            <a:ext cx="2659303" cy="51206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7015" y="6053328"/>
            <a:ext cx="247642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181B"/>
                </a:solidFill>
                <a:latin typeface="Calibri"/>
              </a:rPr>
              <a:t>Trust: privacy = #2 complaint (Swiggy One)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29471" y="5989320"/>
            <a:ext cx="2659303" cy="512064"/>
          </a:xfrm>
          <a:prstGeom prst="roundRect">
            <a:avLst>
              <a:gd name="adj" fmla="val 8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9199" y="6053328"/>
            <a:ext cx="2476423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18181B"/>
                </a:solidFill>
                <a:latin typeface="Calibri"/>
              </a:rPr>
              <a:t>Competitive: Zomato piloting granular toggles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73952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Current state → gap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1175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Swiggy × DPDP · </a:t>
            </a:r>
            <a:r>
              <a:rPr sz="900" b="1" i="0">
                <a:solidFill>
                  <a:srgbClr val="E0670A"/>
                </a:solidFill>
                <a:latin typeface="Calibri"/>
              </a:rPr>
              <a:t>03 /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670487" y="6528816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670A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8181B"/>
                </a:solidFill>
                <a:latin typeface="Calibri"/>
              </a:rPr>
              <a:t>Swiggy SARAL — consent as a product feature, not a legal 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25B"/>
                </a:solidFill>
                <a:latin typeface="Calibri"/>
              </a:rPr>
              <a:t>Simple · Accessible · Rational · Actionable · Legal. From all-or-nothing to just-in-time, just-enough, just-for-now.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956816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consen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048" y="2130552"/>
            <a:ext cx="2820493" cy="422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103120"/>
            <a:ext cx="7756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FIVE PILLARS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95728"/>
            <a:ext cx="3777843" cy="713232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05456"/>
            <a:ext cx="54864" cy="493776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523744"/>
            <a:ext cx="34486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181B"/>
                </a:solidFill>
                <a:latin typeface="Calibri"/>
              </a:rPr>
              <a:t>1 · Unbundled buckets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2852928"/>
            <a:ext cx="34120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2525B"/>
                </a:solidFill>
                <a:latin typeface="Calibri"/>
              </a:rPr>
              <a:t>Essential (inline, no opt-out) vs Optional (granular, un-ticked toggles).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1931" y="2395728"/>
            <a:ext cx="3777843" cy="713232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1931" y="2505456"/>
            <a:ext cx="54864" cy="493776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3099" y="2523744"/>
            <a:ext cx="34486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181B"/>
                </a:solidFill>
                <a:latin typeface="Calibri"/>
              </a:rPr>
              <a:t>2 · Just-in-time notices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3099" y="2852928"/>
            <a:ext cx="34120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2525B"/>
                </a:solidFill>
                <a:latin typeface="Calibri"/>
              </a:rPr>
              <a:t>Ask at the moment of need + value exchange (₹50 off for WhatsApp alerts).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09544"/>
            <a:ext cx="3777843" cy="713232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19272"/>
            <a:ext cx="54864" cy="493776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337560"/>
            <a:ext cx="34486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181B"/>
                </a:solidFill>
                <a:latin typeface="Calibri"/>
              </a:rPr>
              <a:t>3 · Multilingual plain-language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3666744"/>
            <a:ext cx="34120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2525B"/>
                </a:solidFill>
                <a:latin typeface="Calibri"/>
              </a:rPr>
              <a:t>12 languages, 8th-grade reading level, icon per data category.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1931" y="3209544"/>
            <a:ext cx="3777843" cy="713232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1931" y="3319272"/>
            <a:ext cx="54864" cy="493776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3099" y="3337560"/>
            <a:ext cx="34486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181B"/>
                </a:solidFill>
                <a:latin typeface="Calibri"/>
              </a:rPr>
              <a:t>4 · Consent Ledger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3099" y="3666744"/>
            <a:ext cx="341208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2525B"/>
                </a:solidFill>
                <a:latin typeface="Calibri"/>
              </a:rPr>
              <a:t>Immutable signed log; DPB-auditable in &lt;2 min. Kafka → WORM → Audit API.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23360"/>
            <a:ext cx="7756855" cy="603504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133088"/>
            <a:ext cx="54864" cy="384048"/>
          </a:xfrm>
          <a:prstGeom prst="rect">
            <a:avLst/>
          </a:prstGeom>
          <a:solidFill>
            <a:srgbClr val="1BA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151376"/>
            <a:ext cx="742767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8181B"/>
                </a:solidFill>
                <a:latin typeface="Calibri"/>
              </a:rPr>
              <a:t>5 · Children's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480560"/>
            <a:ext cx="7391095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52525B"/>
                </a:solidFill>
                <a:latin typeface="Calibri"/>
              </a:rPr>
              <a:t>Age gate → Guardian Consent Mode; child account runs data-minimal.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754880"/>
            <a:ext cx="7756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WHY NOT THE ALTERNATIVES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2920" y="5029200"/>
          <a:ext cx="7756855" cy="1261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47491"/>
                <a:gridCol w="4309364"/>
              </a:tblGrid>
              <a:tr h="237744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Alternative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Rejected because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 i="0">
                          <a:solidFill>
                            <a:srgbClr val="18181B"/>
                          </a:solidFill>
                          <a:latin typeface="Calibri"/>
                        </a:rPr>
                        <a:t>Single-page granular checklist at signup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 i="0">
                          <a:solidFill>
                            <a:srgbClr val="18181B"/>
                          </a:solidFill>
                          <a:latin typeface="Calibri"/>
                        </a:rPr>
                        <a:t>~18% drop-off; violates low-patience context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 i="0">
                          <a:solidFill>
                            <a:srgbClr val="18181B"/>
                          </a:solidFill>
                          <a:latin typeface="Calibri"/>
                        </a:rPr>
                        <a:t>Post-first-order consent prompt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 i="0">
                          <a:solidFill>
                            <a:srgbClr val="18181B"/>
                          </a:solidFill>
                          <a:latin typeface="Calibri"/>
                        </a:rPr>
                        <a:t>Loses new-user personalization window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 i="0">
                          <a:solidFill>
                            <a:srgbClr val="18181B"/>
                          </a:solidFill>
                          <a:latin typeface="Calibri"/>
                        </a:rPr>
                        <a:t>OS permissions only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 i="0">
                          <a:solidFill>
                            <a:srgbClr val="18181B"/>
                          </a:solidFill>
                          <a:latin typeface="Calibri"/>
                        </a:rPr>
                        <a:t>Fails DPDP purpose-specific notice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 i="0">
                          <a:solidFill>
                            <a:srgbClr val="18181B"/>
                          </a:solidFill>
                          <a:latin typeface="Calibri"/>
                        </a:rPr>
                        <a:t>Third-party consent plug-in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 i="0">
                          <a:solidFill>
                            <a:srgbClr val="18181B"/>
                          </a:solidFill>
                          <a:latin typeface="Calibri"/>
                        </a:rPr>
                        <a:t>Vendor lock-in; weak vernacular UX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cxnSp>
        <p:nvCxnSpPr>
          <p:cNvPr id="32" name="Connector 31"/>
          <p:cNvCxnSpPr/>
          <p:nvPr/>
        </p:nvCxnSpPr>
        <p:spPr>
          <a:xfrm>
            <a:off x="502920" y="6473952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Solution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31175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Swiggy × DPDP · </a:t>
            </a:r>
            <a:r>
              <a:rPr sz="900" b="1" i="0">
                <a:solidFill>
                  <a:srgbClr val="E0670A"/>
                </a:solidFill>
                <a:latin typeface="Calibri"/>
              </a:rPr>
              <a:t>04 / 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670487" y="6528816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670A"/>
                </a:solidFill>
                <a:latin typeface="Calibri"/>
              </a:rPr>
              <a:t>METRICS &amp; SUCCESS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8181B"/>
                </a:solidFill>
                <a:latin typeface="Calibri"/>
              </a:rPr>
              <a:t>One North Star that fuses compliance, conversion and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25B"/>
                </a:solidFill>
                <a:latin typeface="Calibri"/>
              </a:rPr>
              <a:t>Valid Consent Coverage Rate — high VCCR means legally protected AND users aren't bouncing.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956816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kpi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788" y="2112264"/>
            <a:ext cx="7662117" cy="1417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3630168"/>
            <a:ext cx="3931920" cy="2770632"/>
          </a:xfrm>
          <a:prstGeom prst="roundRect">
            <a:avLst>
              <a:gd name="adj" fmla="val 5000"/>
            </a:avLst>
          </a:prstGeom>
          <a:solidFill>
            <a:srgbClr val="E3F5EC"/>
          </a:solidFill>
          <a:ln w="15240">
            <a:solidFill>
              <a:srgbClr val="1BA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58183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A672"/>
                </a:solidFill>
                <a:latin typeface="Calibri"/>
              </a:rPr>
              <a:t>★ NORTH STAR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3250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8181B"/>
                </a:solidFill>
                <a:latin typeface="Calibri"/>
              </a:rPr>
              <a:t>Valid Consent Coverage Rate (VCCR)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26279"/>
            <a:ext cx="3566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% of MAU with explicit, granular, unbundled, ledger-verified consent for every active processing purpose.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01675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A672"/>
                </a:solidFill>
                <a:latin typeface="Calibri"/>
              </a:rPr>
              <a:t>Target: </a:t>
            </a:r>
            <a:r>
              <a:rPr sz="1100" b="1" i="0">
                <a:solidFill>
                  <a:srgbClr val="18181B"/>
                </a:solidFill>
                <a:latin typeface="Calibri"/>
              </a:rPr>
              <a:t>≥95% within 90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630168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SUPPORTING METRICS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754879" y="3904487"/>
          <a:ext cx="6933893" cy="1078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53325"/>
                <a:gridCol w="1797676"/>
                <a:gridCol w="2182892"/>
              </a:tblGrid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Day-1 onboarding completion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72%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≥70% (≤2.8pp drop)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Marketing opt-in (post-JIT)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100% bundled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≥45% in 60 days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Consent revocation completion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n/a (email only)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0" i="0">
                          <a:solidFill>
                            <a:srgbClr val="18181B"/>
                          </a:solidFill>
                          <a:latin typeface="Calibri"/>
                        </a:rPr>
                        <a:t>≥90% · median &lt;45s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754879" y="5111496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4572E"/>
                </a:solidFill>
                <a:latin typeface="Calibri"/>
              </a:rPr>
              <a:t>GUARDRAILS   </a:t>
            </a:r>
            <a:r>
              <a:rPr sz="900" b="0" i="0">
                <a:solidFill>
                  <a:srgbClr val="52525B"/>
                </a:solidFill>
                <a:latin typeface="Calibri"/>
              </a:rPr>
              <a:t>Privacy support tickets: ≤1.5× baseline   ·   Ledger sync latency (p99): &lt;500ms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5440680"/>
            <a:ext cx="6933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A672"/>
                </a:solidFill>
                <a:latin typeface="Calibri"/>
              </a:rPr>
              <a:t>SUCCESS CRITERIA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5678424"/>
            <a:ext cx="6933895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BA672"/>
                </a:solidFill>
                <a:latin typeface="Calibri"/>
              </a:rPr>
              <a:t>✓  </a:t>
            </a:r>
            <a:r>
              <a:rPr sz="900" b="0" i="0">
                <a:solidFill>
                  <a:srgbClr val="18181B"/>
                </a:solidFill>
                <a:latin typeface="Calibri"/>
              </a:rPr>
              <a:t>Compliance: zero audit findings; passes DPB mock audit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BA672"/>
                </a:solidFill>
                <a:latin typeface="Calibri"/>
              </a:rPr>
              <a:t>✓  </a:t>
            </a:r>
            <a:r>
              <a:rPr sz="900" b="0" i="0">
                <a:solidFill>
                  <a:srgbClr val="18181B"/>
                </a:solidFill>
                <a:latin typeface="Calibri"/>
              </a:rPr>
              <a:t>Trust: Privacy NPS +10 pts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BA672"/>
                </a:solidFill>
                <a:latin typeface="Calibri"/>
              </a:rPr>
              <a:t>✓  </a:t>
            </a:r>
            <a:r>
              <a:rPr sz="900" b="0" i="0">
                <a:solidFill>
                  <a:srgbClr val="18181B"/>
                </a:solidFill>
                <a:latin typeface="Calibri"/>
              </a:rPr>
              <a:t>Business: onboarding within 3pp; opt-in &gt;40%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 i="0">
                <a:solidFill>
                  <a:srgbClr val="1BA672"/>
                </a:solidFill>
                <a:latin typeface="Calibri"/>
              </a:rPr>
              <a:t>✓  </a:t>
            </a:r>
            <a:r>
              <a:rPr sz="900" b="0" i="0">
                <a:solidFill>
                  <a:srgbClr val="18181B"/>
                </a:solidFill>
                <a:latin typeface="Calibri"/>
              </a:rPr>
              <a:t>Ops: 100% real-time ledger sync, zero data loss / 30d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73952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KPI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1175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Swiggy × DPDP · </a:t>
            </a:r>
            <a:r>
              <a:rPr sz="900" b="1" i="0">
                <a:solidFill>
                  <a:srgbClr val="E0670A"/>
                </a:solidFill>
                <a:latin typeface="Calibri"/>
              </a:rPr>
              <a:t>05 /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70487" y="6528816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670A"/>
                </a:solidFill>
                <a:latin typeface="Calibri"/>
              </a:rPr>
              <a:t>DIAGNOSTIC THINKING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8181B"/>
                </a:solidFill>
                <a:latin typeface="Calibri"/>
              </a:rPr>
              <a:t>If VCCR drops 15% with no release — a forensic, not a panic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25B"/>
                </a:solidFill>
                <a:latin typeface="Calibri"/>
              </a:rPr>
              <a:t>Scenario: 3 weeks post-launch VCCR falls 92% → 77%. No release, campaign, or outage.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956816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hypothesis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04" y="2130552"/>
            <a:ext cx="4529390" cy="422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7840" y="2130552"/>
            <a:ext cx="6110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DATA ANALYSIS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404872"/>
            <a:ext cx="611093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980" b="0" i="0">
                <a:solidFill>
                  <a:srgbClr val="18181B"/>
                </a:solidFill>
                <a:latin typeface="Calibri"/>
              </a:rPr>
              <a:t>Segment drop by platform / app version / OS → isolate iOS-only vs version bug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980" b="0" i="0">
                <a:solidFill>
                  <a:srgbClr val="18181B"/>
                </a:solidFill>
                <a:latin typeface="Calibri"/>
              </a:rPr>
              <a:t>Funnel drop-off by consent category → marketing-only (JIT) vs uniform (cohort/external)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980" b="0" i="0">
                <a:solidFill>
                  <a:srgbClr val="18181B"/>
                </a:solidFill>
                <a:latin typeface="Calibri"/>
              </a:rPr>
              <a:t>Ledger event volume vs app analytics volume → backend data loss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980" b="0" i="0">
                <a:solidFill>
                  <a:srgbClr val="18181B"/>
                </a:solidFill>
                <a:latin typeface="Calibri"/>
              </a:rPr>
              <a:t>Correlate with acquisition source / campaign ID → cohort shift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980" b="0" i="0">
                <a:solidFill>
                  <a:srgbClr val="18181B"/>
                </a:solidFill>
                <a:latin typeface="Calibri"/>
              </a:rPr>
              <a:t>Social listening 'Swiggy + privacy' → external trigger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8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980" b="0" i="0">
                <a:solidFill>
                  <a:srgbClr val="18181B"/>
                </a:solidFill>
                <a:latin typeface="Calibri"/>
              </a:rPr>
              <a:t>Session recordings at consent screens → rage-click / UX confusion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4462272"/>
            <a:ext cx="6110935" cy="822960"/>
          </a:xfrm>
          <a:prstGeom prst="roundRect">
            <a:avLst>
              <a:gd name="adj" fmla="val 5000"/>
            </a:avLst>
          </a:prstGeom>
          <a:solidFill>
            <a:srgbClr val="FFF4EA"/>
          </a:solidFill>
          <a:ln w="12700">
            <a:solidFill>
              <a:srgbClr val="FC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24144" y="4553712"/>
            <a:ext cx="5836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0670A"/>
                </a:solidFill>
                <a:latin typeface="Calibri"/>
              </a:rPr>
              <a:t>ROOT-CAUSE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4144" y="4791456"/>
            <a:ext cx="58366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18181B"/>
                </a:solidFill>
                <a:latin typeface="Calibri"/>
              </a:rPr>
              <a:t>Five-Whys + cohort isolation. Example: opt-in fell → JIT fires at checkout → address event mis-mapped to checkout in v8.4.2 → release regression in trigger logic.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5394960"/>
            <a:ext cx="61109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A672"/>
                </a:solidFill>
                <a:latin typeface="Calibri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5650992"/>
            <a:ext cx="61109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BA672"/>
                </a:solidFill>
                <a:latin typeface="Calibri"/>
              </a:rPr>
              <a:t>—  </a:t>
            </a:r>
            <a:r>
              <a:rPr sz="930" b="0" i="0">
                <a:solidFill>
                  <a:srgbClr val="18181B"/>
                </a:solidFill>
                <a:latin typeface="Calibri"/>
              </a:rPr>
              <a:t>0-24h: freeze rollout if &lt;80%, verify pipeline, alert legal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BA672"/>
                </a:solidFill>
                <a:latin typeface="Calibri"/>
              </a:rPr>
              <a:t>—  </a:t>
            </a:r>
            <a:r>
              <a:rPr sz="930" b="0" i="0">
                <a:solidFill>
                  <a:srgbClr val="18181B"/>
                </a:solidFill>
                <a:latin typeface="Calibri"/>
              </a:rPr>
              <a:t>1-7d: A/B JIT timing, hotfix regression, in-app survey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1BA672"/>
                </a:solidFill>
                <a:latin typeface="Calibri"/>
              </a:rPr>
              <a:t>—  </a:t>
            </a:r>
            <a:r>
              <a:rPr sz="930" b="0" i="0">
                <a:solidFill>
                  <a:srgbClr val="18181B"/>
                </a:solidFill>
                <a:latin typeface="Calibri"/>
              </a:rPr>
              <a:t>7-30d: re-engage incomplete consent, fix micro-copy, transparency post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73952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Hypothesis tree + recovery playbook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1175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Swiggy × DPDP · </a:t>
            </a:r>
            <a:r>
              <a:rPr sz="900" b="1" i="0">
                <a:solidFill>
                  <a:srgbClr val="E0670A"/>
                </a:solidFill>
                <a:latin typeface="Calibri"/>
              </a:rPr>
              <a:t>06 /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670487" y="6528816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670A"/>
                </a:solidFill>
                <a:latin typeface="Calibri"/>
              </a:rP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8181B"/>
                </a:solidFill>
                <a:latin typeface="Calibri"/>
              </a:rPr>
              <a:t>Consent Health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25B"/>
                </a:solidFill>
                <a:latin typeface="Calibri"/>
              </a:rPr>
              <a:t>Real-time monitoring of compliance, conversion and trust (mock data, 30-sec rollup).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956816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2130552"/>
            <a:ext cx="2926080" cy="1463040"/>
          </a:xfrm>
          <a:prstGeom prst="roundRect">
            <a:avLst>
              <a:gd name="adj" fmla="val 5000"/>
            </a:avLst>
          </a:prstGeom>
          <a:solidFill>
            <a:srgbClr val="FCE4DE"/>
          </a:solidFill>
          <a:ln w="1524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3113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4572E"/>
                </a:solidFill>
                <a:latin typeface="Calibri"/>
              </a:rPr>
              <a:t>MAIN KPI · VCCR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49631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>
                <a:solidFill>
                  <a:srgbClr val="18181B"/>
                </a:solidFill>
                <a:latin typeface="Calibri"/>
              </a:rPr>
              <a:t>77.0%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04495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E4572E"/>
                </a:solidFill>
                <a:latin typeface="Calibri"/>
              </a:rPr>
              <a:t>Target 95.0%   ·   ↓ 15.0pp vs 3 weeks 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29184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4572E"/>
                </a:solidFill>
                <a:latin typeface="Calibri"/>
              </a:rPr>
              <a:t>Below target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2130552"/>
            <a:ext cx="1845487" cy="146304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03320" y="2130552"/>
            <a:ext cx="1845487" cy="9144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1335" y="2322576"/>
            <a:ext cx="1626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52525B"/>
                </a:solidFill>
                <a:latin typeface="Calibri"/>
              </a:rPr>
              <a:t>Day-1 onboarding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2743200"/>
            <a:ext cx="162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8181B"/>
                </a:solidFill>
                <a:latin typeface="Calibri"/>
              </a:rPr>
              <a:t>55.0%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31335" y="3163824"/>
            <a:ext cx="162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E4572E"/>
                </a:solidFill>
                <a:latin typeface="Calibri"/>
              </a:rPr>
              <a:t>baseline 72% · ↓17pp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49975" y="2130552"/>
            <a:ext cx="1845487" cy="146304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49975" y="2130552"/>
            <a:ext cx="1845487" cy="91440"/>
          </a:xfrm>
          <a:prstGeom prst="roundRect">
            <a:avLst>
              <a:gd name="adj" fmla="val 6000"/>
            </a:avLst>
          </a:prstGeom>
          <a:solidFill>
            <a:srgbClr val="1BA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77991" y="2322576"/>
            <a:ext cx="1626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52525B"/>
                </a:solidFill>
                <a:latin typeface="Calibri"/>
              </a:rPr>
              <a:t>Marketing opt-in (JIT)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7991" y="2743200"/>
            <a:ext cx="162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8181B"/>
                </a:solidFill>
                <a:latin typeface="Calibri"/>
              </a:rPr>
              <a:t>53.0%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7991" y="3163824"/>
            <a:ext cx="162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BA672"/>
                </a:solidFill>
                <a:latin typeface="Calibri"/>
              </a:rPr>
              <a:t>target 45% · ↑8pp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96631" y="2130552"/>
            <a:ext cx="1845487" cy="146304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96631" y="2130552"/>
            <a:ext cx="1845487" cy="91440"/>
          </a:xfrm>
          <a:prstGeom prst="roundRect">
            <a:avLst>
              <a:gd name="adj" fmla="val 6000"/>
            </a:avLst>
          </a:prstGeom>
          <a:solidFill>
            <a:srgbClr val="1BA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4647" y="2322576"/>
            <a:ext cx="1626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52525B"/>
                </a:solidFill>
                <a:latin typeface="Calibri"/>
              </a:rPr>
              <a:t>Ledger sync p99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4647" y="2743200"/>
            <a:ext cx="162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8181B"/>
                </a:solidFill>
                <a:latin typeface="Calibri"/>
              </a:rPr>
              <a:t>320ms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4647" y="3163824"/>
            <a:ext cx="162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1BA672"/>
                </a:solidFill>
                <a:latin typeface="Calibri"/>
              </a:rPr>
              <a:t>threshold 500ms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43287" y="2130552"/>
            <a:ext cx="1845487" cy="1463040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843287" y="2130552"/>
            <a:ext cx="1845487" cy="91440"/>
          </a:xfrm>
          <a:prstGeom prst="roundRect">
            <a:avLst>
              <a:gd name="adj" fmla="val 6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71303" y="2322576"/>
            <a:ext cx="16260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52525B"/>
                </a:solidFill>
                <a:latin typeface="Calibri"/>
              </a:rPr>
              <a:t>Privacy tickets / wk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71303" y="2743200"/>
            <a:ext cx="162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18181B"/>
                </a:solidFill>
                <a:latin typeface="Calibri"/>
              </a:rPr>
              <a:t>1,240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71303" y="3163824"/>
            <a:ext cx="162603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E4572E"/>
                </a:solidFill>
                <a:latin typeface="Calibri"/>
              </a:rPr>
              <a:t>baseline 800 · ↑55%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37764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SEGMENTATION — platform × geography × cohort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02920" y="4050792"/>
          <a:ext cx="736092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8276"/>
                <a:gridCol w="736092"/>
                <a:gridCol w="920115"/>
                <a:gridCol w="736092"/>
                <a:gridCol w="2760345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1" i="0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1" i="0">
                          <a:solidFill>
                            <a:srgbClr val="FFFFFF"/>
                          </a:solidFill>
                          <a:latin typeface="Calibri"/>
                        </a:rPr>
                        <a:t>VCCR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1" i="0">
                          <a:solidFill>
                            <a:srgbClr val="FFFFFF"/>
                          </a:solidFill>
                          <a:latin typeface="Calibri"/>
                        </a:rPr>
                        <a:t>Onboard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1" i="0">
                          <a:solidFill>
                            <a:srgbClr val="FFFFFF"/>
                          </a:solidFill>
                          <a:latin typeface="Calibri"/>
                        </a:rPr>
                        <a:t>Opt-in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1" i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iOS / Metro / New (Jun)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Highest drop; iOS 18 ATT suspected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Android / Metro / New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Within guardrail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Android / Tier-2 / All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44%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Vernacular copy tests needed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iOS / Tier-1 / Returning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61%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Re-consent successful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Guardian / Under-18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45%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69" b="0" i="0">
                          <a:solidFill>
                            <a:srgbClr val="18181B"/>
                          </a:solidFill>
                          <a:latin typeface="Calibri"/>
                        </a:rPr>
                        <a:t>Parental OTP friction high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8092440" y="3776472"/>
            <a:ext cx="3596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4572E"/>
                </a:solidFill>
                <a:latin typeface="Calibri"/>
              </a:rPr>
              <a:t>ALERT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050792"/>
            <a:ext cx="359633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4572E"/>
                </a:solidFill>
                <a:latin typeface="Calibri"/>
              </a:rPr>
              <a:t>▸  </a:t>
            </a:r>
            <a:r>
              <a:rPr sz="900" b="0" i="0">
                <a:solidFill>
                  <a:srgbClr val="18181B"/>
                </a:solidFill>
                <a:latin typeface="Calibri"/>
              </a:rPr>
              <a:t>VCCR &lt;80% &gt;2h → P0 auto-freeze + page SRE + notify Legal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4572E"/>
                </a:solidFill>
                <a:latin typeface="Calibri"/>
              </a:rPr>
              <a:t>▸  </a:t>
            </a:r>
            <a:r>
              <a:rPr sz="900" b="0" i="0">
                <a:solidFill>
                  <a:srgbClr val="18181B"/>
                </a:solidFill>
                <a:latin typeface="Calibri"/>
              </a:rPr>
              <a:t>Onboarding &lt;60% &gt;6h → P1 fallback simplified flow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4572E"/>
                </a:solidFill>
                <a:latin typeface="Calibri"/>
              </a:rPr>
              <a:t>▸  </a:t>
            </a:r>
            <a:r>
              <a:rPr sz="900" b="0" i="0">
                <a:solidFill>
                  <a:srgbClr val="18181B"/>
                </a:solidFill>
                <a:latin typeface="Calibri"/>
              </a:rPr>
              <a:t>Ledger p99 &gt;500ms &gt;10m → P1 Kafka lag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4572E"/>
                </a:solidFill>
                <a:latin typeface="Calibri"/>
              </a:rPr>
              <a:t>▸  </a:t>
            </a:r>
            <a:r>
              <a:rPr sz="900" b="0" i="0">
                <a:solidFill>
                  <a:srgbClr val="18181B"/>
                </a:solidFill>
                <a:latin typeface="Calibri"/>
              </a:rPr>
              <a:t>Privacy tickets &gt;1.5× 3d → P2 copy review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02920" y="6473952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Health dashboard · mock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31175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Swiggy × DPDP · </a:t>
            </a:r>
            <a:r>
              <a:rPr sz="900" b="1" i="0">
                <a:solidFill>
                  <a:srgbClr val="E0670A"/>
                </a:solidFill>
                <a:latin typeface="Calibri"/>
              </a:rPr>
              <a:t>07 / 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670487" y="6528816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670A"/>
                </a:solidFill>
                <a:latin typeface="Calibri"/>
              </a:rPr>
              <a:t>ROLLOUT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8181B"/>
                </a:solidFill>
                <a:latin typeface="Calibri"/>
              </a:rPr>
              <a:t>Phased, validated, reversible — and we never A/B-test illegality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25B"/>
                </a:solidFill>
                <a:latin typeface="Calibri"/>
              </a:rPr>
              <a:t>From legal foundation to full rollout with hard gates at each phase.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956816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2157984"/>
            <a:ext cx="2604439" cy="960120"/>
          </a:xfrm>
          <a:prstGeom prst="roundRect">
            <a:avLst>
              <a:gd name="adj" fmla="val 6000"/>
            </a:avLst>
          </a:prstGeom>
          <a:solidFill>
            <a:srgbClr val="FFF4EA"/>
          </a:solidFill>
          <a:ln w="13970">
            <a:solidFill>
              <a:srgbClr val="FC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57984"/>
            <a:ext cx="2604439" cy="73152"/>
          </a:xfrm>
          <a:prstGeom prst="roundRect">
            <a:avLst>
              <a:gd name="adj" fmla="val 6000"/>
            </a:avLst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2286000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0670A"/>
                </a:solidFill>
                <a:latin typeface="Calibri"/>
              </a:rPr>
              <a:t>Phase 0 · Wk 1-3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542032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181B"/>
                </a:solidFill>
                <a:latin typeface="Calibri"/>
              </a:rPr>
              <a:t>Legal &amp; Design 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761488"/>
            <a:ext cx="238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52525B"/>
                </a:solidFill>
                <a:latin typeface="Calibri"/>
              </a:rPr>
              <a:t>12-lang notices · DPIA · Ledger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3163824"/>
            <a:ext cx="25861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1BA672"/>
                </a:solidFill>
                <a:latin typeface="Calibri"/>
              </a:rPr>
              <a:t>Gate: legal sign-off · DPIA · pentest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5647" y="2555748"/>
            <a:ext cx="219456" cy="164592"/>
          </a:xfrm>
          <a:prstGeom prst="rightArrow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3391" y="2157984"/>
            <a:ext cx="2604439" cy="960120"/>
          </a:xfrm>
          <a:prstGeom prst="roundRect">
            <a:avLst>
              <a:gd name="adj" fmla="val 6000"/>
            </a:avLst>
          </a:prstGeom>
          <a:solidFill>
            <a:srgbClr val="FFF4EA"/>
          </a:solidFill>
          <a:ln w="13970">
            <a:solidFill>
              <a:srgbClr val="FC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63391" y="2157984"/>
            <a:ext cx="2604439" cy="73152"/>
          </a:xfrm>
          <a:prstGeom prst="roundRect">
            <a:avLst>
              <a:gd name="adj" fmla="val 6000"/>
            </a:avLst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1407" y="2286000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0670A"/>
                </a:solidFill>
                <a:latin typeface="Calibri"/>
              </a:rPr>
              <a:t>Phase 1 · Wk 4-7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1407" y="2542032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181B"/>
                </a:solidFill>
                <a:latin typeface="Calibri"/>
              </a:rPr>
              <a:t>Controlled A/B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1407" y="2761488"/>
            <a:ext cx="238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52525B"/>
                </a:solidFill>
                <a:latin typeface="Calibri"/>
              </a:rPr>
              <a:t>5% new users · Bangalore + Mumbai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1679" y="3163824"/>
            <a:ext cx="25861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1BA672"/>
                </a:solidFill>
                <a:latin typeface="Calibri"/>
              </a:rPr>
              <a:t>Gate: no P0 7d · onboarding ±4pp · VCCR &gt;85%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986119" y="2555748"/>
            <a:ext cx="219456" cy="164592"/>
          </a:xfrm>
          <a:prstGeom prst="rightArrow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23863" y="2157984"/>
            <a:ext cx="2604439" cy="960120"/>
          </a:xfrm>
          <a:prstGeom prst="roundRect">
            <a:avLst>
              <a:gd name="adj" fmla="val 6000"/>
            </a:avLst>
          </a:prstGeom>
          <a:solidFill>
            <a:srgbClr val="FFF4EA"/>
          </a:solidFill>
          <a:ln w="13970">
            <a:solidFill>
              <a:srgbClr val="FC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23863" y="2157984"/>
            <a:ext cx="2604439" cy="73152"/>
          </a:xfrm>
          <a:prstGeom prst="roundRect">
            <a:avLst>
              <a:gd name="adj" fmla="val 6000"/>
            </a:avLst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1879" y="2286000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0670A"/>
                </a:solidFill>
                <a:latin typeface="Calibri"/>
              </a:rPr>
              <a:t>Phase 2 · Wk 8-10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1879" y="2542032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181B"/>
                </a:solidFill>
                <a:latin typeface="Calibri"/>
              </a:rPr>
              <a:t>Regional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1879" y="2761488"/>
            <a:ext cx="238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52525B"/>
                </a:solidFill>
                <a:latin typeface="Calibri"/>
              </a:rPr>
              <a:t>25% · 8 cities · Guardian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2151" y="3163824"/>
            <a:ext cx="25861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1BA672"/>
                </a:solidFill>
                <a:latin typeface="Calibri"/>
              </a:rPr>
              <a:t>Gate: ledger p99 &lt;300ms · guardian &gt;60%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846591" y="2555748"/>
            <a:ext cx="219456" cy="164592"/>
          </a:xfrm>
          <a:prstGeom prst="rightArrow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84335" y="2157984"/>
            <a:ext cx="2604439" cy="960120"/>
          </a:xfrm>
          <a:prstGeom prst="roundRect">
            <a:avLst>
              <a:gd name="adj" fmla="val 6000"/>
            </a:avLst>
          </a:prstGeom>
          <a:solidFill>
            <a:srgbClr val="FFF4EA"/>
          </a:solidFill>
          <a:ln w="13970">
            <a:solidFill>
              <a:srgbClr val="FC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84335" y="2157984"/>
            <a:ext cx="2604439" cy="73152"/>
          </a:xfrm>
          <a:prstGeom prst="roundRect">
            <a:avLst>
              <a:gd name="adj" fmla="val 6000"/>
            </a:avLst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2351" y="2286000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0670A"/>
                </a:solidFill>
                <a:latin typeface="Calibri"/>
              </a:rPr>
              <a:t>Phase 3 · Wk 11-14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12351" y="2542032"/>
            <a:ext cx="23849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8181B"/>
                </a:solidFill>
                <a:latin typeface="Calibri"/>
              </a:rPr>
              <a:t>Full rollout + backfill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2351" y="2761488"/>
            <a:ext cx="238498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869" b="0" i="0">
                <a:solidFill>
                  <a:srgbClr val="52525B"/>
                </a:solidFill>
                <a:latin typeface="Calibri"/>
              </a:rPr>
              <a:t>100% new · re-consent campaign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2623" y="3163824"/>
            <a:ext cx="2586151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i="0">
                <a:solidFill>
                  <a:srgbClr val="1BA672"/>
                </a:solidFill>
                <a:latin typeface="Calibri"/>
              </a:rPr>
              <a:t>Exit: VCCR &gt;95% · NPS +10 · audit clean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621024"/>
            <a:ext cx="3545738" cy="2734055"/>
          </a:xfrm>
          <a:prstGeom prst="roundRect">
            <a:avLst>
              <a:gd name="adj" fmla="val 5000"/>
            </a:avLst>
          </a:prstGeom>
          <a:solidFill>
            <a:srgbClr val="E3F5EC"/>
          </a:solidFill>
          <a:ln w="12700">
            <a:solidFill>
              <a:srgbClr val="1BA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3730752"/>
            <a:ext cx="32714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A672"/>
                </a:solidFill>
                <a:latin typeface="Calibri"/>
              </a:rPr>
              <a:t>A/B TESTABLE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4023360"/>
            <a:ext cx="3253130" cy="22768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BA672"/>
                </a:solidFill>
                <a:latin typeface="Calibri"/>
              </a:rPr>
              <a:t>—  </a:t>
            </a:r>
            <a:r>
              <a:rPr sz="950" b="0" i="0">
                <a:solidFill>
                  <a:srgbClr val="18181B"/>
                </a:solidFill>
                <a:latin typeface="Calibri"/>
              </a:rPr>
              <a:t>JIT prompt timing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BA672"/>
                </a:solidFill>
                <a:latin typeface="Calibri"/>
              </a:rPr>
              <a:t>—  </a:t>
            </a:r>
            <a:r>
              <a:rPr sz="950" b="0" i="0">
                <a:solidFill>
                  <a:srgbClr val="18181B"/>
                </a:solidFill>
                <a:latin typeface="Calibri"/>
              </a:rPr>
              <a:t>Toggle UI pattern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BA672"/>
                </a:solidFill>
                <a:latin typeface="Calibri"/>
              </a:rPr>
              <a:t>—  </a:t>
            </a:r>
            <a:r>
              <a:rPr sz="950" b="0" i="0">
                <a:solidFill>
                  <a:srgbClr val="18181B"/>
                </a:solidFill>
                <a:latin typeface="Calibri"/>
              </a:rPr>
              <a:t>Incentive framing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1BA672"/>
                </a:solidFill>
                <a:latin typeface="Calibri"/>
              </a:rPr>
              <a:t>—  </a:t>
            </a:r>
            <a:r>
              <a:rPr sz="950" b="0" i="0">
                <a:solidFill>
                  <a:srgbClr val="18181B"/>
                </a:solidFill>
                <a:latin typeface="Calibri"/>
              </a:rPr>
              <a:t>Vernacular variants (formal vs colloquial)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2978" y="3621024"/>
            <a:ext cx="3545738" cy="2734055"/>
          </a:xfrm>
          <a:prstGeom prst="roundRect">
            <a:avLst>
              <a:gd name="adj" fmla="val 5000"/>
            </a:avLst>
          </a:prstGeom>
          <a:solidFill>
            <a:srgbClr val="FCE4DE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69282" y="3730752"/>
            <a:ext cx="32714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4572E"/>
                </a:solidFill>
                <a:latin typeface="Calibri"/>
              </a:rPr>
              <a:t>NEVER A/B-TESTED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9282" y="4023360"/>
            <a:ext cx="325313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E4572E"/>
                </a:solidFill>
                <a:latin typeface="Calibri"/>
              </a:rPr>
              <a:t>—  </a:t>
            </a:r>
            <a:r>
              <a:rPr sz="950" b="0" i="0">
                <a:solidFill>
                  <a:srgbClr val="18181B"/>
                </a:solidFill>
                <a:latin typeface="Calibri"/>
              </a:rPr>
              <a:t>Essential-data notice (legally mandated)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E4572E"/>
                </a:solidFill>
                <a:latin typeface="Calibri"/>
              </a:rPr>
              <a:t>—  </a:t>
            </a:r>
            <a:r>
              <a:rPr sz="950" b="0" i="0">
                <a:solidFill>
                  <a:srgbClr val="18181B"/>
                </a:solidFill>
                <a:latin typeface="Calibri"/>
              </a:rPr>
              <a:t>Children's age gate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E4572E"/>
                </a:solidFill>
                <a:latin typeface="Calibri"/>
              </a:rPr>
              <a:t>—  </a:t>
            </a:r>
            <a:r>
              <a:rPr sz="950" b="0" i="0">
                <a:solidFill>
                  <a:srgbClr val="18181B"/>
                </a:solidFill>
                <a:latin typeface="Calibri"/>
              </a:rPr>
              <a:t>Consent Ledger logging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69282" y="5303519"/>
            <a:ext cx="325313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E4572E"/>
                </a:solidFill>
                <a:latin typeface="Calibri"/>
              </a:rPr>
              <a:t>Compliance shadow test: </a:t>
            </a:r>
            <a:r>
              <a:rPr sz="900" b="0" i="0">
                <a:solidFill>
                  <a:srgbClr val="18181B"/>
                </a:solidFill>
                <a:latin typeface="Calibri"/>
              </a:rPr>
              <a:t>For mandatory elements run 'compliance shadow tests': new notice to 100% of a cohort vs a holdback that sees the OLD compliant notice — never a non-compliant one.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43036" y="3621024"/>
            <a:ext cx="3545738" cy="2734055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9340" y="3730752"/>
            <a:ext cx="327141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VALIDATION METHODS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9340" y="4023360"/>
            <a:ext cx="3253130" cy="22768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950" b="0" i="0">
                <a:solidFill>
                  <a:srgbClr val="18181B"/>
                </a:solidFill>
                <a:latin typeface="Calibri"/>
              </a:rPr>
              <a:t>Quant: funnel, cohort retention, VCCR trend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950" b="0" i="0">
                <a:solidFill>
                  <a:srgbClr val="18181B"/>
                </a:solidFill>
                <a:latin typeface="Calibri"/>
              </a:rPr>
              <a:t>Qual: moderated tests in Hindi/Tamil/Kannada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950" b="0" i="0">
                <a:solidFill>
                  <a:srgbClr val="18181B"/>
                </a:solidFill>
                <a:latin typeface="Calibri"/>
              </a:rPr>
              <a:t>Legal: external DPDP mock audit every 2 weeks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1" i="0">
                <a:solidFill>
                  <a:srgbClr val="FC8019"/>
                </a:solidFill>
                <a:latin typeface="Calibri"/>
              </a:rPr>
              <a:t>—  </a:t>
            </a:r>
            <a:r>
              <a:rPr sz="950" b="0" i="0">
                <a:solidFill>
                  <a:srgbClr val="18181B"/>
                </a:solidFill>
                <a:latin typeface="Calibri"/>
              </a:rPr>
              <a:t>Tech: chaos test Ledger (Kafka outage → fallback queue)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02920" y="6473952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Timeline + experimentation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31175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Swiggy × DPDP · </a:t>
            </a:r>
            <a:r>
              <a:rPr sz="900" b="1" i="0">
                <a:solidFill>
                  <a:srgbClr val="E0670A"/>
                </a:solidFill>
                <a:latin typeface="Calibri"/>
              </a:rPr>
              <a:t>08 / 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670487" y="6528816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670A"/>
                </a:solidFill>
                <a:latin typeface="Calibri"/>
              </a:rPr>
              <a:t>RISKS &amp;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8181B"/>
                </a:solidFill>
                <a:latin typeface="Calibri"/>
              </a:rPr>
              <a:t>Honest accounting of what we trade for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25B"/>
                </a:solidFill>
                <a:latin typeface="Calibri"/>
              </a:rPr>
              <a:t>We know conversion will hurt and legacy data is messy — the cost of inaction is existential.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956816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2112264"/>
            <a:ext cx="7406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RISK REGISTER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2395728"/>
          <a:ext cx="7406637" cy="3675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14267"/>
                <a:gridCol w="712176"/>
                <a:gridCol w="712176"/>
                <a:gridCol w="436801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Prob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Mitigation → Trade-off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Engineering complexity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E0670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Certain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Managed Kafka + WORM S3; 2 senior eng / 8 wks; in-memory fallback  →  Accept 3-wk backend extension vs lifetime liability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Business (conversion)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E0670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Likely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JIT incentives; first-party personalization; re-engage opt-ins  →  6 mo lower ad revenue for defensible model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User friction (Tier-2/3)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B45309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Likely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Progressive disclosure; &lt;30s consent; Quick-Start auto-deny  →  Small top-funnel loss for trust + retention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Edge: declines all optional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B45309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Certain (some %)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Minimal mode: manual address, no marketing, aggregated analytics, blocked sharing  →  Higher eng cost for privacy mode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Edge: non-cooperative guardian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52525B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Possible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Limited-access order, zero retention, parent education  →  Lose some under-18 volume vs S.9 penalty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Edge: legacy data backfill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E0670A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Certain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30" b="0" i="0">
                          <a:solidFill>
                            <a:srgbClr val="18181B"/>
                          </a:solidFill>
                          <a:latin typeface="Calibri"/>
                        </a:rPr>
                        <a:t>'Trust Refresh' re-consent; purge &gt;12mo profiles; document legitimate use  →  Temp. data-richness loss to cleanse liability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0" y="2112264"/>
            <a:ext cx="3459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4572E"/>
                </a:solidFill>
                <a:latin typeface="Calibri"/>
              </a:rPr>
              <a:t>RISK HEATMAP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414016"/>
            <a:ext cx="3459175" cy="916686"/>
          </a:xfrm>
          <a:prstGeom prst="roundRect">
            <a:avLst>
              <a:gd name="adj" fmla="val 6000"/>
            </a:avLst>
          </a:prstGeom>
          <a:solidFill>
            <a:srgbClr val="FCE4DE"/>
          </a:solidFill>
          <a:ln w="1270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7616" y="2487168"/>
            <a:ext cx="3221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E4572E"/>
                </a:solidFill>
                <a:latin typeface="Calibri"/>
              </a:rPr>
              <a:t>High prob · High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7616" y="2706624"/>
            <a:ext cx="3221431" cy="55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18181B"/>
                </a:solidFill>
                <a:latin typeface="Calibri"/>
              </a:rPr>
              <a:t>Conversion loss · Legacy backfill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422142"/>
            <a:ext cx="3459175" cy="916686"/>
          </a:xfrm>
          <a:prstGeom prst="roundRect">
            <a:avLst>
              <a:gd name="adj" fmla="val 6000"/>
            </a:avLst>
          </a:prstGeom>
          <a:solidFill>
            <a:srgbClr val="FCE9DE"/>
          </a:solidFill>
          <a:ln w="12700">
            <a:solidFill>
              <a:srgbClr val="FC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3495294"/>
            <a:ext cx="3221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FC8019"/>
                </a:solidFill>
                <a:latin typeface="Calibri"/>
              </a:rPr>
              <a:t>High prob · Med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714750"/>
            <a:ext cx="3221431" cy="55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18181B"/>
                </a:solidFill>
                <a:latin typeface="Calibri"/>
              </a:rPr>
              <a:t>Eng complexity · Tier-2/3 friction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430268"/>
            <a:ext cx="3459175" cy="916686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4503420"/>
            <a:ext cx="3221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B45309"/>
                </a:solidFill>
                <a:latin typeface="Calibri"/>
              </a:rPr>
              <a:t>Med prob · Med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4722876"/>
            <a:ext cx="3221431" cy="55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18181B"/>
                </a:solidFill>
                <a:latin typeface="Calibri"/>
              </a:rPr>
              <a:t>Guardian refusal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5438394"/>
            <a:ext cx="3459175" cy="916686"/>
          </a:xfrm>
          <a:prstGeom prst="roundRect">
            <a:avLst>
              <a:gd name="adj" fmla="val 6000"/>
            </a:avLst>
          </a:prstGeom>
          <a:solidFill>
            <a:srgbClr val="FAFAFA"/>
          </a:solidFill>
          <a:ln w="12700">
            <a:solidFill>
              <a:srgbClr val="5252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6" y="5511546"/>
            <a:ext cx="32214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1" i="0">
                <a:solidFill>
                  <a:srgbClr val="52525B"/>
                </a:solidFill>
                <a:latin typeface="Calibri"/>
              </a:rPr>
              <a:t>Low prob · Low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5731002"/>
            <a:ext cx="3221431" cy="550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 i="0">
                <a:solidFill>
                  <a:srgbClr val="18181B"/>
                </a:solidFill>
                <a:latin typeface="Calibri"/>
              </a:rPr>
              <a:t>Competitor first-mover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73952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Risk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1175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Swiggy × DPDP · </a:t>
            </a:r>
            <a:r>
              <a:rPr sz="900" b="1" i="0">
                <a:solidFill>
                  <a:srgbClr val="E0670A"/>
                </a:solidFill>
                <a:latin typeface="Calibri"/>
              </a:rPr>
              <a:t>09 /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670487" y="6528816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C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E0670A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8181B"/>
                </a:solidFill>
                <a:latin typeface="Calibri"/>
              </a:rPr>
              <a:t>Privacy as a product, not a penalty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52525B"/>
                </a:solidFill>
                <a:latin typeface="Calibri"/>
              </a:rPr>
              <a:t>SARAL turns DPDP compliance into a competitive advantage — legal safety, business growth, user trust, at once.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1956816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2130552"/>
            <a:ext cx="3545738" cy="1371600"/>
          </a:xfrm>
          <a:prstGeom prst="roundRect">
            <a:avLst>
              <a:gd name="adj" fmla="val 5000"/>
            </a:avLst>
          </a:prstGeom>
          <a:solidFill>
            <a:srgbClr val="E3F5EC"/>
          </a:solidFill>
          <a:ln w="12700">
            <a:solidFill>
              <a:srgbClr val="1BA6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258568"/>
            <a:ext cx="323484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8181B"/>
                </a:solidFill>
                <a:latin typeface="Calibri"/>
              </a:rPr>
              <a:t>Legal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633472"/>
            <a:ext cx="323484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Zero bundled consent · verifiable ledger · parental gateway · audit-ready &lt;2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2130552"/>
            <a:ext cx="3545738" cy="1371600"/>
          </a:xfrm>
          <a:prstGeom prst="roundRect">
            <a:avLst>
              <a:gd name="adj" fmla="val 5000"/>
            </a:avLst>
          </a:prstGeom>
          <a:solidFill>
            <a:srgbClr val="FCE9DE"/>
          </a:solidFill>
          <a:ln w="12700">
            <a:solidFill>
              <a:srgbClr val="FC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7570" y="2258568"/>
            <a:ext cx="323484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8181B"/>
                </a:solidFill>
                <a:latin typeface="Calibri"/>
              </a:rPr>
              <a:t>Business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7570" y="2633472"/>
            <a:ext cx="323484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Core onboarding unblocked · opt-in recovered via JIT · premium trust positioning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3036" y="2130552"/>
            <a:ext cx="3545738" cy="1371600"/>
          </a:xfrm>
          <a:prstGeom prst="roundRect">
            <a:avLst>
              <a:gd name="adj" fmla="val 5000"/>
            </a:avLst>
          </a:prstGeom>
          <a:solidFill>
            <a:srgbClr val="E5EEF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7628" y="2258568"/>
            <a:ext cx="323484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8181B"/>
                </a:solidFill>
                <a:latin typeface="Calibri"/>
              </a:rPr>
              <a:t>User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7628" y="2633472"/>
            <a:ext cx="323484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2525B"/>
                </a:solidFill>
                <a:latin typeface="Calibri"/>
              </a:rPr>
              <a:t>Plain-language multilingual notices · one-tap revocation · transparent usage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85032"/>
            <a:ext cx="11185855" cy="713232"/>
          </a:xfrm>
          <a:prstGeom prst="roundRect">
            <a:avLst>
              <a:gd name="adj" fmla="val 6000"/>
            </a:avLst>
          </a:prstGeom>
          <a:solidFill>
            <a:srgbClr val="FFF4EA"/>
          </a:solidFill>
          <a:ln w="15240">
            <a:solidFill>
              <a:srgbClr val="FC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76472"/>
            <a:ext cx="108200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0670A"/>
                </a:solidFill>
                <a:latin typeface="Calibri"/>
              </a:rPr>
              <a:t>DECISION ASK   </a:t>
            </a:r>
            <a:r>
              <a:rPr sz="1100" b="0" i="0">
                <a:solidFill>
                  <a:srgbClr val="18181B"/>
                </a:solidFill>
                <a:latin typeface="Calibri"/>
              </a:rPr>
              <a:t>Approve today: (1) 2 senior backend eng + 1 designer + 1 legal PM for 12 weeks; (2) ₹45 lakh for translation, audit &amp; managed infra; (3) Go for Phase-1 A/B on 20 July 2026.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81144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E0670A"/>
                </a:solidFill>
                <a:latin typeface="Calibri"/>
              </a:rPr>
              <a:t>IMMEDIATE NEXT STEPS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02920" y="4855464"/>
          <a:ext cx="6126478" cy="1627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97267"/>
                <a:gridCol w="3869355"/>
                <a:gridCol w="859856"/>
              </a:tblGrid>
              <a:tr h="25603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</a:rPr>
                        <a:t>Due</a:t>
                      </a:r>
                    </a:p>
                  </a:txBody>
                  <a:tcPr marL="73152" marR="54864" marT="27432" marB="27432" anchor="ctr">
                    <a:solidFill>
                      <a:srgbClr val="FC801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PRD for Consent Ledger + JIT trigger logic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10 Jul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Engineering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Staging for SARAL backend + variants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17 Jul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Legal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Complete DPIA → DPO sign-off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15 Jul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Hi-fi prototypes + vernacular copy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12 Jul</a:t>
                      </a:r>
                    </a:p>
                  </a:txBody>
                  <a:tcPr marL="73152" marR="54864" marT="27432" marB="27432" anchor="ctr"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Incentive framework for JIT opt-in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 i="0">
                          <a:solidFill>
                            <a:srgbClr val="18181B"/>
                          </a:solidFill>
                          <a:latin typeface="Calibri"/>
                        </a:rPr>
                        <a:t>14 Jul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6858000" y="4581144"/>
            <a:ext cx="4830775" cy="1773936"/>
          </a:xfrm>
          <a:prstGeom prst="roundRect">
            <a:avLst>
              <a:gd name="adj" fmla="val 5000"/>
            </a:avLst>
          </a:prstGeom>
          <a:solidFill>
            <a:srgbClr val="1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168" y="4764024"/>
            <a:ext cx="4428439" cy="1453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FFFFF"/>
                </a:solidFill>
                <a:latin typeface="Calibri"/>
              </a:rPr>
              <a:t>DPDP isn't a deadline to fear — it's a blueprint for the most trusted food-tech platform in India. Our users' data belongs to them; their trust belongs to us.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73952"/>
            <a:ext cx="11185855" cy="0"/>
          </a:xfrm>
          <a:prstGeom prst="bentConnector3">
            <a:avLst/>
          </a:prstGeom>
          <a:ln w="12700">
            <a:solidFill>
              <a:srgbClr val="E4E4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Call to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1175" y="652881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52525B"/>
                </a:solidFill>
                <a:latin typeface="Calibri"/>
              </a:rPr>
              <a:t>Swiggy × DPDP · </a:t>
            </a:r>
            <a:r>
              <a:rPr sz="900" b="1" i="0">
                <a:solidFill>
                  <a:srgbClr val="E0670A"/>
                </a:solidFill>
                <a:latin typeface="Calibri"/>
              </a:rPr>
              <a:t>10 / 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670487" y="6528816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