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regulatory countdown. Emphasize that this is not a legal checkbox exercise — it is a product architecture problem that affects our growth engine. The bundled consent model is a ticking time bomb.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 the picture of Priya tapping 'Accept All' at 1:15 PM while her meeting starts in 5 minutes. She has zero patience. Any friction = drop-off. Any deception = trust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step by step. Pause at Step 4 — the bundled wall. This is where we lose users and where we break the law. Highlight that background location starts before the user even places an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SARAL is not just a redesign — it's a re-architecture of how Swiggy treats user autonomy. The Consent Ledger is our insurance policy. The JIT model is our conversion strategy. The children's gateway is our legal 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VCCR is our North Star because it is the only metric that combines legal safety with user engagement. If VCCR is high but onboarding drops, we tighten JIT timing. If VCCR is low but onboarding is fine, we have a compliance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'stress test' of our product thinking. The 15% drop is a riddle. The hypothesis tree prevents panic. The data analysis plan gives us a forensic checklist. The key is to isolate whether it's a UX bug, a backend leak, or a market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is our war room. The sparkline tells the story. The segmentation table isolates the patient zero of the drop. The alert rules ensure we react in minutes, not days. Notice the under-18 segment — this is our biggest blind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the make-or-break moment. We do NOT test whether compliance is needed — we test HOW to make compliance delightful. The non-testable list is our red line. We never put user rights up for experimentation.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we prove we are not naive. We know conversion will hurt. We know engineering is hard. We know legacy data is a mess. But the cost of inaction is existential. The trade-offs are worth it because the alternative is regulatory shutdown of our data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energy and clarity. The ask is specific: people, money, and a date. Everyone in the room should know exactly what they own by the time they leave. Privacy is not a cost center. It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Problem Statement: The 'Bundled Consent' Risk</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Swiggy's Onboarding Consent Model vs. DPDP Act 2023</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Product Framework: Swiggy — India's leading food delivery &amp; quick commerce super-app (24M+ MAU)
</a:t>
            </a:r>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Focus Area: User onboarding consent flow — the first legal touchpoint where personal data collection is authorized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Why It Matters: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Legal Risk: DPDP Act Section 6 invalidates bundled/coerced consent. Penalties up to 250 crore INR for data breaches and 50 crore INR for general non-compliance.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User Trust: 68% of Indian digital natives rank 'data transparency' as a top-3 app selection criterion. Bundled consent erodes long-term LTV.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Business Risk: Post-DPDP enforcement, any user can challenge historical consent validity, exposing Swiggy to class-action litigation and regulatory audit failure.
</a:t>
            </a:r>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Problem Statement: Swiggy's current onboarding uses a single 'Accept All' checkbox (pre-ticked in some flows) that bundles essential delivery data (address, phone) with optional behavioral data (location tracking, cross-sell marketing, third-party analytics). This violates DPDP's mandate for free, specific, informed, unconditional, and affirmative consent.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Assumptions: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Users currently encounter a monolithic privacy policy wall during signup; granular toggles do not exist at onboarding.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 significant share of Swiggy's user base (estimated 35%) are low-digital-literacy users who need plain-language, vernacular consent notices.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Marketing opt-in rates will drop if unbundled; however, re-engagement via contextual 'just-in-time' prompts can recover 60%+ of lost opt-ins.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Children under 18 (or their guardians) use Swiggy for food ordering; DPDP mandates verifiable parental consent for children's data, which is currently absent.
</a:t>
            </a:r>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Key Takeaway: We must decouple essential service data from optional value-add processing before DPDP enforcement deadlines, or risk catastrophic regulatory and reputational damage.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User: The 'Hungry, Hurried, Hesitant' Consumer</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Understanding the human behind the data point</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Primary Persona: Priya, 28, Bangalore (The Privacy-Conscious Urban Diner):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Context: Orders lunch via Swiggy 3x/week from office. Uses Instamart for weekend groceries. Has Instagram, LinkedIn, and 6 finance apps on her phone.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Mental Model: She understands that Swiggy needs her address and phone to deliver food. She does NOT understand why Swiggy needs her location when the app is closed.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Privacy Attitude: Willing to share data for clear value. Deeply suspicious of 'dark patterns' and hidden data sharing.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Secondary Persona: Ramesh, 42, Tier-2 City (The Low-Literacy Trust-First User):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Context: First-time smartphone user. Uses Swiggy for family dinner on weekends. Speaks Kannada at home. Clicks 'OK' on any popup to reach the food faster.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Mental Model: Does not read privacy policies. Assumes the app store protects him. Will blindly accept all terms if it means faster food.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Privacy Attitude: Trusts brands by default. Needs protection from his own habit of rapid-tapping consent buttons.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Tertiary Persona: Ananya, 16, Student (Child User):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Context: Orders snacks after tuition. Uses parent's phone or her own device. Parent pays via UPI.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Mental Model: Unaware that her browsing patterns and location history are being collected.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Privacy Attitude: Not applicable — DPDP places duty of protection on the platform, not the child.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Pain Points: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Consent fatigue: Users see a 4,000-word privacy policy at signup and either abandon or blindly accept.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Dark pattern anxiety: Pre-ticked boxes and 'Agree to continue' coercion create distrust.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Vernacular gap: Privacy notices are English-only, excluding 60%+ of India's non-English-first users.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Parental blindspot: Guardians have no mechanism to review or authorize data collection for minors.
</a:t>
            </a:r>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Why This Matters: For Priya, poor consent UX is a reason to switch to Zomato. For Ramesh, it's a reason to churn silently. For Ananya's parent, it's a reason to uninstall.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Current Experience: The 'Wall of Text' Onboarding</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Where Swiggy falls short of DPDP expectations</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Current Onboarding Flow: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1 (App Launch): User downloads Swiggy. No privacy notice shown. Implicit collection of Device ID and IP address begins.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2 (Phone Number Entry): User enters mobile number for OTP. No separate purpose explanation provided.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3 (Address Permission): System asks for location permission via OS dialog. Lacks Swiggy-specific granular breakdown.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4 (The Bundled Wall): Single screen forces agreement to Terms, Privacy, and Cookie policies with a pre-ticked box.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5 (Home Screen): Background location tracking activates. Data sharing with restaurant partners enabled by default.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DPDP Compliance Gaps: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Free &amp; Unconditional Consent (Section 6): Critical Gap — User cannot proceed without accepting ALL optional and marketing terms.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Specific &amp; Informed (Section 6): Critical Gap — One blanket statement covers 12+ distinct, unitemized processing streams.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Affirmative Action (Section 6): High Risk — Pre-ticked marketing boxes and passive 'by continuing' validation scripts.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Purpose Limitation (Section 5): High Risk — Delivery phone numbers and addresses are repurposed for targeted ads without explicit opt-in.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Data Minimization (Section 4): Medium Risk — Background location is collected 24/7 even when manual addresses are saved.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Children's Data (Section 9): Critical Gap — Missing age gates, parental verification frameworks, or data protection constraints.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Right to Withdraw Consent (Section 7): High Risk — Zero in-app settings interfaces to toggle or recall historically granted permissions.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Language Notice (Section 7): High Risk — Privacy policy remains legal English only; no support for regional vernacular translations.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Friction &amp; Risk Points: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Legal: Data Protection Board can issue immediate show-cause notices upon enforcement checks.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Conversion: 18% estimated drop-off at the mandatory 'Terms wall' for new signups in Tier-2/3 cities.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Trust: Privacy standards rank as the second highest recurring complaint among Swiggy One premium users.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Proposed Solution: 'Swiggy SARAL' Progressive Consent Architecture</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Simple, Accessible, Rational, Actionable, Legal Framework</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Solution Philosophy: Treat consent as a product feature, not a legal tax. Move from 'all-or-nothing' to 'just-in-time, just-enough, just-for-now'.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Solution Pillars: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Pillar 1 (Unbundled Consent Buckets): Essential Data (Phone, Address, Payment token) processed inline. Optional Data (Background tracking, cross-selling, third-party analytics) decoupled into opt-in toggles.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Pillar 2 (Just-In-Time JIT Notices): Deferred prompts. Request location access dynamically upon user tap. Request marketing channel permissions when coupon value is contextualized.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Pillar 3 (Multilingual Plain-Language Layer): Localized privacy layer across 12 languages (Hindi, Tamil, Kannada, etc.) written at an 8th-grade reading level using visual clear-intent icons.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Pillar 4 (The Consent Ledger Backend): Cryptographically signed immutable ledger (Kafka streams -&gt; WORM storage database) compiling secure user_id purpose audits.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Pillar 5 (Children's Gateway): Age-verification self-declaration. Activates zero-marketing 'data-minimal' mode with guardian OTP fallback workflows if under 18.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Why This Solution works: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Compliance-First: Directly maps to DPDP Sections 4, 5, 6, 7, and 9.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Business-Safe: Essential data flows are unblocked, protecting core transaction conversions.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Competitive Moat: Establishes Swiggy as the most trusted food-tech application platform in India.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Alternatives Considered: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Single-page granular checklist at onboarding. (Rejected: Caused 18% sign-up funnel drop-off).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Third-party Consent Manager plug-in. (Rejected: Risk of high vendor lock-in, latency, and restricted UX customization).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Metrics &amp; Success Criteria</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Measuring compliance, trust, and conversion simultaneously</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North Star Metric: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Valid Consent Coverage Rate (VCCR): % of active users with granular, unbundled consent matched to real-time backend ledger records.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Formula: (Users with complete consent ledger records across all active processing purposes / Total MAU) * 100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Target: Maintain &gt;= 95% VCCR coverage within 90 days of complete regional rollout.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Supporting Metrics: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Day-1 Onboarding Completion Rate: Baseline 72% -&gt; Target stable &gt;= 70% to secure the growth pipeline.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Marketing Opt-In Rate (Post-JIT): Target &gt;= 45% recovery via localized context-aware incentive banners (e.g., WhatsApp opt-in coupons).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Consent Revocation Completion Rate: Target &gt;= 90% completion within 3 intuitive in-app taps (&lt;45 seconds).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Guardrail Metrics: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Privacy Support Ticket Volume: Alert limits set to &lt;= 1.5x baseline spikes during deployment phases.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Consent Ledger Sync Latency: System target engine performance capped at p99 &lt; 500ms event writing updates.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Success Criteria Benchmarks: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Compliance: Full legal sign-off from mock DPB checks; all consent records pass real-time automated verification logs.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Trust: Consumer privacy sentiment NPS metrics expand by &gt;= 10 points in quarterly brand research.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Operational: Consent Ledger maintains 100% active state synchronizations with zero event loss.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Diagnostic Thinking: When the North Star Drops 15%</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Hypothesis tree, data analysis, and recovery playbook</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Crisis Scenario: VCCR drops suddenly from 92% to 77% within three weeks post-launch with no immediate system downtime reports.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Diagnostic Hypothesis Tree: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Branch 1 (UX Regression): High-friction JIT prompts firing early. Check if location prompts interrupt checkout paths or display broken layouts on iOS/Android viewports.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Branch 2 (Cohort Shift): Demographics skewing metrics. Check if marketing student drives activated high volumes of minor accounts hitting guardian gates.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Branch 3 (Backend Data Drift): Event pipelines dropping records. Check for Kafka topic lags on specific networks or event emission bugs in newer builds.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Branch 4 (External Trigger): Out-of-app privacy sensitivity surge. Monitor viral public discourse, competing privacy campaigns, or government alerts.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Forensic Data Analysis Plan: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1: Segment VCCR drops by target platform (iOS vs Android) to isolate native UI client bugs.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2: Compare overall checkout funnel rates with location check skips to find UI design bottlenecks.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Step 3: Match core user activity event logs directly with backend ledger outputs to check database drop-off rates.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Immediate Recovery Playbook: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0-24 Hours: Freeze rollout expansion; query real-time event pipeline integrity; isolate performance metrics by platform.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1-7 Days: Run targeted micro-copy A/B adjustments; patch client-side logging regressions; activate localized in-app feedback surveys.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7-30 Days: Deploy fallback data-minimal pipelines; retarget affected profiles via incentivized re-consent flows.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Dashboard: Consent Health Command Center</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Real-time monitoring of compliance, conversion, and trust</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Core Status Metrics (Swiggy SARAL Dashboard):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Valid Consent Coverage Rate (VCCR): 77.0% (Target: 95.0% - Warning State) | Trend: Down 15pp.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Day-1 Onboarding Completion: 55.0% (Baseline: 72.0% - Critical Impact) | Trend: Down 17pp.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Marketing Opt-In Rate (JIT): 53.0% (Target: 45.0% - Healthy State) | Trend: Up 8pp.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Consent Ledger Sync Latency: 320ms (Target: &lt;500ms - Healthy State) | Trend: Stable.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Privacy Support Tickets: 1,240/week (Baseline: 800/week - Critical Spike) | Trend: Up 55%.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Segment-Level Analytics: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Segment 1 (iOS / Metro / New Users): 68% VCCR, 48% Onboarding. High friction suspected across iOS 18 privacy setups.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Segment 2 (Android / Metro / New Users): 82% VCCR, 62% Onboarding. Normal bounds.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Segment 3 (Android / Tier-2 / All Users): 79% VCCR, 58% Onboarding. Vernacular copy translation alignment required.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Segment 4 (Guardian Consent / Under-18): 45% VCCR, 35% Onboarding. Guardian validation drop-offs require remediation steps.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System Alert Rules: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P0 Rule: If VCCR falls below 80% for over 2 consecutive hours -&gt; Trigger deployment freeze + engineer page notifications.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P1 Rule: If onboarding loops fall below 60% for over 6 hours -&gt; Automatically roll back interface variants to safety configurations.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P2 Rule: If privacy support ticket queues expand past 1.5x for 3 days -&gt; Deploy in-app micro-survey feedback loops.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Rollout Plan: Phased, Validated, Reversible</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From legal foundation to full-scale deployment</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Roadmap Phases: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Phase 0 (Legal &amp; Design Foundation - Weeks 1-3): Complete 12-language notice sign-off, execute initial Data Protection Impact Assessments (DPIA), and construct core Consent Ledger backend microservices.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Phase 1 (Controlled A/B Experiment - Weeks 4-7): Deploy 3 competing UI variants to 5% user pools in Tier-1 areas. Measure VCCR drop-offs and collect user session recordings.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Phase 2 (Regional Pilot - Weeks 8-10): Expand distribution systems to 25% across 8 distinct metros. Activate under-18 parental validation and scale ledger traffic handling.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Phase 3 (Full Rollout - Weeks 11-14): Transition 100% of new traffic to SARAL onboarding pathways. Run legacy profile backfill workflows via custom targeted messaging channels.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Experimentation Boundaries: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A/B Testable Elements: Prompt timing (checkout vs onboarding), toggle patterns, and copy framing incentives.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Non-Testable Compliance Elements: Core consent notifications, age blocks, and ledger logging tasks are immutable constraints.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Handling Non-Testable constraints: We run compliance shadow tests — showing the new notice to 100% of a small cohort and measuring behavioral metrics vs a holdback group that sees the old notice. We never test illegality.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Validation Methodology: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Quantitative checks: Funnel analysis, conversion metrics, ledger writing reliability logs.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Qualitative checks: Weekly 1:1 user testing loops across metros in local languages.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Risks &amp; Trade-offs</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Honest accounting of what we are trading for compliance</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Identified Program Risks: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Risk 1 (Engineering Complexity): Kafka pipelines and append-only database designs add operational system overhead. Mitigation: Deploy managed cloud architectures and retain fallback offline messaging queues.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Risk 2 (Business Conversion Loss): Unbundled permissions could drop short-term active marketing opt-ins from 100% to ~45%. Mitigation: Launch context-based JIT promotions with user value messaging.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Risk 3 (User Onboarding Friction): Granular choice layers create user sign-up drop-off risks. Mitigation: Use progressive disclosure to delay optional prompts past onboarding.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Risk 4 (Edge Case - Opt-Out Profiles): Users denying all tracking options must retain core app functionality. Mitigation: Develop standard location manual entry defaults.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Risk 5 (Edge Case - Minor Abandonment): Friction on parental validation pathways may drop under-18 engagement metrics. Mitigation: Streamline parental OTP verification loops.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Risk 6 (Edge Case - Legacy Backfill): Validating compliance history for 24M existing users. Mitigation: Execute in-app re-consent drives; expire unverified logs over 12 months.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Risk Impact Heatmap Summary: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High Impact &amp; High Probability: Conversion drop-off, legacy database backfill liability.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High Probability &amp; Medium Impact: Development timeline overhead, user friction in tier-2 cities.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Medium Probability &amp; Medium Impact: Guardian authorization loop abandonment.
</a:t>
            </a:r>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Trade-Off Alignment: We accept temporary metric hits to insulate Swiggy from severe statutory penalties and build permanent brand equity.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C8019"/>
          </a:solidFill>
          <a:ln w="12700">
            <a:solidFill>
              <a:srgbClr val="333333"/>
            </a:solidFill>
            <a:prstDash val="solid"/>
          </a:ln>
        </p:spPr>
      </p:sp>
      <p:sp>
        <p:nvSpPr>
          <p:cNvPr id="3" name="Text 1"/>
          <p:cNvSpPr/>
          <p:nvPr/>
        </p:nvSpPr>
        <p:spPr>
          <a:xfrm>
            <a:off x="365760" y="109728"/>
            <a:ext cx="11430000"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Conclusion: Privacy as a Product, Not a Penalty</a:t>
            </a:r>
            <a:endParaRPr lang="en-US" sz="2400" dirty="0"/>
          </a:p>
        </p:txBody>
      </p:sp>
      <p:sp>
        <p:nvSpPr>
          <p:cNvPr id="4" name="Text 2"/>
          <p:cNvSpPr/>
          <p:nvPr/>
        </p:nvSpPr>
        <p:spPr>
          <a:xfrm>
            <a:off x="365760" y="548640"/>
            <a:ext cx="11430000" cy="3200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Next steps and the decision we need today</a:t>
            </a:r>
            <a:endParaRPr lang="en-US" sz="1300" dirty="0"/>
          </a:p>
        </p:txBody>
      </p:sp>
      <p:sp>
        <p:nvSpPr>
          <p:cNvPr id="5" name="Text 3"/>
          <p:cNvSpPr/>
          <p:nvPr/>
        </p:nvSpPr>
        <p:spPr>
          <a:xfrm>
            <a:off x="365760" y="1234440"/>
            <a:ext cx="11430000" cy="5212080"/>
          </a:xfrm>
          <a:prstGeom prst="rect">
            <a:avLst/>
          </a:prstGeom>
          <a:noFill/>
          <a:ln/>
        </p:spPr>
        <p:txBody>
          <a:bodyPr wrap="square" rtlCol="0" anchor="t"/>
          <a:lstStyle/>
          <a:p>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Executive Summary: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Swiggy SARAL evolves compliance metrics into pillars of product trust.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Protects processing frameworks, minimizes exposure to severe statutory penalties, and builds transparent consumer interfaces.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Value Stream Deliverables: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Legal Safety: 100% auditable user records verified under 2 minutes.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Business Continuity: Core user onboarding workflows remain unblocked and fluid.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Consumer Trust: Clear value propositions with absolute customer choice.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Immediate Strategic Resource Ask: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Approve structural allocation of 2 backend engineers, 1 designer, and 1 legal PM over a fixed 12-week design cycle.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Authorize translation, auditing, and ledger storage infrastructure budgets.
</a:t>
            </a:r>
            <a:pPr algn="l" indent="0" marL="0">
              <a:lnSpc>
                <a:spcPts val="1800"/>
              </a:lnSpc>
              <a:buNone/>
            </a:pPr>
            <a:r>
              <a:rPr lang="en-US" sz="1300" b="1" dirty="0">
                <a:solidFill>
                  <a:srgbClr val="2D2D2D"/>
                </a:solidFill>
                <a:latin typeface="Calibri" pitchFamily="34" charset="0"/>
                <a:ea typeface="Calibri" pitchFamily="34" charset="-122"/>
                <a:cs typeface="Calibri" pitchFamily="34" charset="-120"/>
              </a:rPr>
              <a:t>Action Item Accountability Matrix: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Action 1: Finalize functional system PRD files for consent tracking states. (Owner: Divya / Due: 2026-07-10)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Action 2: Stage testing build sandboxes for backend and interface variations. (Owner: Engineering / Due: 2026-07-17)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Action 3: File foundational onboarding impact reports to validation officers. (Owner: Legal / Due: 2026-07-15)
</a:t>
            </a:r>
            <a:pPr algn="l" lvl="1" marL="685800" indent="-342900">
              <a:lnSpc>
                <a:spcPts val="1800"/>
              </a:lnSpc>
              <a:buSzPct val="100000"/>
              <a:buChar char="▶"/>
            </a:pPr>
            <a:r>
              <a:rPr lang="en-US" sz="1100" dirty="0">
                <a:solidFill>
                  <a:srgbClr val="2D2D2D"/>
                </a:solidFill>
                <a:latin typeface="Calibri" pitchFamily="34" charset="0"/>
                <a:ea typeface="Calibri" pitchFamily="34" charset="-122"/>
                <a:cs typeface="Calibri" pitchFamily="34" charset="-120"/>
              </a:rPr>
              <a:t>Action 4: Deliver high-fidelity localized interface layouts. (Owner: Design / Due: 2026-07-12)
</a:t>
            </a:r>
            <a:pPr algn="l" indent="0" marL="0">
              <a:lnSpc>
                <a:spcPts val="1800"/>
              </a:lnSpc>
              <a:buNone/>
            </a:pPr>
            <a:r>
              <a:rPr lang="en-US" sz="1300" dirty="0">
                <a:solidFill>
                  <a:srgbClr val="2D2D2D"/>
                </a:solidFill>
                <a:latin typeface="Calibri" pitchFamily="34" charset="0"/>
                <a:ea typeface="Calibri" pitchFamily="34" charset="-122"/>
                <a:cs typeface="Calibri" pitchFamily="34" charset="-120"/>
              </a:rPr>
              <a:t>Closing Statement: The DPDP Act is not a deadline to fear. It is a blueprint for building the most trusted food-tech platform in India. Let's build Swiggy SARAL.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2026-07-03T15:20:18Z</dcterms:created>
  <dcterms:modified xsi:type="dcterms:W3CDTF">2026-07-03T15:20:18Z</dcterms:modified>
</cp:coreProperties>
</file>